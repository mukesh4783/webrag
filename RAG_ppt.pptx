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280160" cy="4445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4C98C"/>
                </a:solidFill>
                <a:latin typeface="Trebuchet MS"/>
              </a:rPr>
              <a:t>MAJOR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78892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Georgia"/>
              </a:rPr>
              <a:t>webRAG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CED4"/>
                </a:solidFill>
                <a:latin typeface="Trebuchet MS"/>
              </a:rPr>
              <a:t>Web-Based Retrieval-Augmented Generation for Grounded Question Answering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074920"/>
            <a:ext cx="4206240" cy="1234440"/>
          </a:xfrm>
          <a:prstGeom prst="rect">
            <a:avLst/>
          </a:prstGeom>
          <a:solidFill>
            <a:srgbClr val="1E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230368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88A2E"/>
                </a:solidFill>
                <a:latin typeface="Trebuchet MS"/>
              </a:rPr>
              <a:t>SUBMITTED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8640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Georgia"/>
              </a:rPr>
              <a:t>Mukesh Kumar Pandey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5216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BEC6"/>
                </a:solidFill>
                <a:latin typeface="Trebuchet MS"/>
              </a:rPr>
              <a:t>Registration Number: 12409414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510528"/>
            <a:ext cx="10515600" cy="12700"/>
          </a:xfrm>
          <a:prstGeom prst="rect">
            <a:avLst/>
          </a:prstGeom>
          <a:solidFill>
            <a:srgbClr val="1E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LangChain  ·  ChromaDB  ·  Ollama  ·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88A2E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52704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22E"/>
                </a:solidFill>
                <a:latin typeface="Trebuchet MS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9280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36B"/>
                </a:solidFill>
                <a:latin typeface="Trebuchet MS"/>
              </a:rPr>
              <a:t>Why answers grounded in live web content matter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51176"/>
            <a:ext cx="5257800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79192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88A2E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9748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22E"/>
                </a:solidFill>
                <a:latin typeface="Trebuchet MS"/>
              </a:rPr>
              <a:t>What is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632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36B"/>
                </a:solidFill>
                <a:latin typeface="Trebuchet MS"/>
              </a:rPr>
              <a:t>Retrieval-Augmented Generation, in brief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721608"/>
            <a:ext cx="5257800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849624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88A2E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6791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22E"/>
                </a:solidFill>
                <a:latin typeface="Trebuchet MS"/>
              </a:rPr>
              <a:t>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3367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36B"/>
                </a:solidFill>
                <a:latin typeface="Trebuchet MS"/>
              </a:rPr>
              <a:t>Component view of the webRAG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892040"/>
            <a:ext cx="5257800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020056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88A2E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38344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22E"/>
                </a:solidFill>
                <a:latin typeface="Trebuchet MS"/>
              </a:rPr>
              <a:t>Data Flow Diagrams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40410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36B"/>
                </a:solidFill>
                <a:latin typeface="Trebuchet MS"/>
              </a:rPr>
              <a:t>Context (Level 0) and detailed (Level 1)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50876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88A2E"/>
                </a:solidFill>
                <a:latin typeface="Georg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152704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22E"/>
                </a:solidFill>
                <a:latin typeface="Trebuchet MS"/>
              </a:rPr>
              <a:t>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189280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36B"/>
                </a:solidFill>
                <a:latin typeface="Trebuchet MS"/>
              </a:rPr>
              <a:t>Every library and its role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51176"/>
            <a:ext cx="5257800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2679192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88A2E"/>
                </a:solidFill>
                <a:latin typeface="Georgia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69748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22E"/>
                </a:solidFill>
                <a:latin typeface="Trebuchet MS"/>
              </a:rPr>
              <a:t>Feature Walkthrough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0632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36B"/>
                </a:solidFill>
                <a:latin typeface="Trebuchet MS"/>
              </a:rPr>
              <a:t>Grounded Q&amp;A, live updates, freshness &amp; diff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721608"/>
            <a:ext cx="5257800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3849624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88A2E"/>
                </a:solidFill>
                <a:latin typeface="Georgia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86791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22E"/>
                </a:solidFill>
                <a:latin typeface="Trebuchet MS"/>
              </a:rPr>
              <a:t>Application in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23367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36B"/>
                </a:solidFill>
                <a:latin typeface="Trebuchet MS"/>
              </a:rPr>
              <a:t>UI screenshots from a working test run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892040"/>
            <a:ext cx="5257800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5020056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88A2E"/>
                </a:solidFill>
                <a:latin typeface="Georgia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038344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22E"/>
                </a:solidFill>
                <a:latin typeface="Trebuchet MS"/>
              </a:rPr>
              <a:t>Learnings &amp; Future 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40410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36B"/>
                </a:solidFill>
                <a:latin typeface="Trebuchet MS"/>
              </a:rPr>
              <a:t>What we took away, 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Why Standard Chatbots Fall Short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9E4A3A"/>
                </a:solidFill>
                <a:latin typeface="Trebuchet MS"/>
              </a:rPr>
              <a:t>The Core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49377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>
                <a:solidFill>
                  <a:srgbClr val="B88A2E"/>
                </a:solidFill>
                <a:latin typeface="Trebuchet MS"/>
              </a:rPr>
              <a:t>—  Stale knowledge.  </a:t>
            </a:r>
            <a:r>
              <a:rPr sz="1350">
                <a:solidFill>
                  <a:srgbClr val="23272B"/>
                </a:solidFill>
                <a:latin typeface="Trebuchet MS"/>
              </a:rPr>
              <a:t>General-purpose LLMs are frozen at their training cut-off and cannot see today's website content.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>
                <a:solidFill>
                  <a:srgbClr val="B88A2E"/>
                </a:solidFill>
                <a:latin typeface="Trebuchet MS"/>
              </a:rPr>
              <a:t>—  Hallucination risk.  </a:t>
            </a:r>
            <a:r>
              <a:rPr sz="1350">
                <a:solidFill>
                  <a:srgbClr val="23272B"/>
                </a:solidFill>
                <a:latin typeface="Trebuchet MS"/>
              </a:rPr>
              <a:t>Without grounding, models can state incorrect facts with full confidence.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>
                <a:solidFill>
                  <a:srgbClr val="B88A2E"/>
                </a:solidFill>
                <a:latin typeface="Trebuchet MS"/>
              </a:rPr>
              <a:t>—  No source trail.  </a:t>
            </a:r>
            <a:r>
              <a:rPr sz="1350">
                <a:solidFill>
                  <a:srgbClr val="23272B"/>
                </a:solidFill>
                <a:latin typeface="Trebuchet MS"/>
              </a:rPr>
              <a:t>Standard chatbots rarely tell you which document an answer came from.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>
                <a:solidFill>
                  <a:srgbClr val="B88A2E"/>
                </a:solidFill>
                <a:latin typeface="Trebuchet MS"/>
              </a:rPr>
              <a:t>—  Manual re-reading.  </a:t>
            </a:r>
            <a:r>
              <a:rPr sz="1350">
                <a:solidFill>
                  <a:srgbClr val="23272B"/>
                </a:solidFill>
                <a:latin typeface="Trebuchet MS"/>
              </a:rPr>
              <a:t>Tracking whether a source page changed is normally a manual, error-prone task.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08760"/>
            <a:ext cx="5257800" cy="4846320"/>
          </a:xfrm>
          <a:prstGeom prst="rect">
            <a:avLst/>
          </a:prstGeom>
          <a:solidFill>
            <a:srgbClr val="14222E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73736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4C98C"/>
                </a:solidFill>
                <a:latin typeface="Trebuchet MS"/>
              </a:rPr>
              <a:t>Our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94560"/>
            <a:ext cx="46177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>
                <a:solidFill>
                  <a:srgbClr val="E4C98C"/>
                </a:solidFill>
                <a:latin typeface="Trebuchet MS"/>
              </a:rPr>
              <a:t>—  Ground every answer  </a:t>
            </a:r>
            <a:r>
              <a:rPr sz="1350">
                <a:solidFill>
                  <a:srgbClr val="E8E9EB"/>
                </a:solidFill>
                <a:latin typeface="Trebuchet MS"/>
              </a:rPr>
              <a:t>strictly in the live text of user-supplied URLs.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>
                <a:solidFill>
                  <a:srgbClr val="E4C98C"/>
                </a:solidFill>
                <a:latin typeface="Trebuchet MS"/>
              </a:rPr>
              <a:t>—  Detect page changes  </a:t>
            </a:r>
            <a:r>
              <a:rPr sz="1350">
                <a:solidFill>
                  <a:srgbClr val="E8E9EB"/>
                </a:solidFill>
                <a:latin typeface="Trebuchet MS"/>
              </a:rPr>
              <a:t>automatically via content hashing, no manual diffing.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>
                <a:solidFill>
                  <a:srgbClr val="E4C98C"/>
                </a:solidFill>
                <a:latin typeface="Trebuchet MS"/>
              </a:rPr>
              <a:t>—  Refuse to guess  </a:t>
            </a:r>
            <a:r>
              <a:rPr sz="1350">
                <a:solidFill>
                  <a:srgbClr val="E8E9EB"/>
                </a:solidFill>
                <a:latin typeface="Trebuchet MS"/>
              </a:rPr>
              <a:t>when the answer is not present in the indexed content.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>
                <a:solidFill>
                  <a:srgbClr val="E4C98C"/>
                </a:solidFill>
                <a:latin typeface="Trebuchet MS"/>
              </a:rPr>
              <a:t>—  Cite sources  </a:t>
            </a:r>
            <a:r>
              <a:rPr sz="1350">
                <a:solidFill>
                  <a:srgbClr val="E8E9EB"/>
                </a:solidFill>
                <a:latin typeface="Trebuchet MS"/>
              </a:rPr>
              <a:t>so every answer can be verified against the original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What Is Retrieval-Augmented Generation?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RAG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36B"/>
                </a:solidFill>
                <a:latin typeface="Trebuchet MS"/>
              </a:rPr>
              <a:t>Instead of relying on a model's memorised training data, RAG retrieves the most relevant real content first, then asks the model to answer using only that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3246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41832" y="2587752"/>
            <a:ext cx="566928" cy="566928"/>
          </a:xfrm>
          <a:prstGeom prst="ellipse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4C98C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337560"/>
            <a:ext cx="27340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22E"/>
                </a:solidFill>
                <a:latin typeface="Georgia"/>
              </a:rPr>
              <a:t>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749040"/>
            <a:ext cx="273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6B"/>
                </a:solidFill>
                <a:latin typeface="Trebuchet MS"/>
              </a:rPr>
              <a:t>Search a vector database for the text chunks most similar in meaning to the question.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86784" y="0"/>
            <a:ext cx="457200" cy="0"/>
          </a:xfrm>
          <a:prstGeom prst="line">
            <a:avLst/>
          </a:prstGeom>
          <a:ln w="28575">
            <a:solidFill>
              <a:srgbClr val="B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498848" y="2331720"/>
            <a:ext cx="3246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754880" y="2587752"/>
            <a:ext cx="566928" cy="566928"/>
          </a:xfrm>
          <a:prstGeom prst="ellipse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4C98C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37560"/>
            <a:ext cx="27340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22E"/>
                </a:solidFill>
                <a:latin typeface="Georgia"/>
              </a:rPr>
              <a:t>Augment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749040"/>
            <a:ext cx="273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6B"/>
                </a:solidFill>
                <a:latin typeface="Trebuchet MS"/>
              </a:rPr>
              <a:t>Insert those chunks into the prompt as the model's only source of truth.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99832" y="0"/>
            <a:ext cx="457200" cy="0"/>
          </a:xfrm>
          <a:prstGeom prst="line">
            <a:avLst/>
          </a:prstGeom>
          <a:ln w="28575">
            <a:solidFill>
              <a:srgbClr val="B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311896" y="2331720"/>
            <a:ext cx="3246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67928" y="2587752"/>
            <a:ext cx="566928" cy="566928"/>
          </a:xfrm>
          <a:prstGeom prst="ellipse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4C98C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3337560"/>
            <a:ext cx="27340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22E"/>
                </a:solidFill>
                <a:latin typeface="Georgia"/>
              </a:rPr>
              <a:t>Generate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3749040"/>
            <a:ext cx="273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36B"/>
                </a:solidFill>
                <a:latin typeface="Trebuchet MS"/>
              </a:rPr>
              <a:t>The LLM composes an answer using exclusively the retrieved evidence.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074920"/>
            <a:ext cx="11000232" cy="1234440"/>
          </a:xfrm>
          <a:prstGeom prst="rect">
            <a:avLst/>
          </a:prstGeom>
          <a:solidFill>
            <a:srgbClr val="EE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2395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4A3A"/>
                </a:solidFill>
                <a:latin typeface="Trebuchet MS"/>
              </a:rPr>
              <a:t>Why it matters for webRAG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0527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72B"/>
                </a:solidFill>
                <a:latin typeface="Trebuchet MS"/>
              </a:rPr>
              <a:t>The system prompt explicitly instructs the model to answer ONLY from retrieved context, and to say so plainly when the answer is not present — turning RAG into a hallucination-resistant, verifiable Q&amp;A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81328"/>
            <a:ext cx="11000232" cy="777240"/>
          </a:xfrm>
          <a:prstGeom prst="roundRect">
            <a:avLst>
              <a:gd name="adj" fmla="val 6000"/>
            </a:avLst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PRESENTATION LAYER   —   Streamlit UI  (app.py)</a:t>
            </a:r>
          </a:p>
          <a:p>
            <a:pPr algn="ctr"/>
            <a:r>
              <a:rPr sz="1050">
                <a:solidFill>
                  <a:srgbClr val="E4C98C"/>
                </a:solidFill>
                <a:latin typeface="Trebuchet MS"/>
              </a:rPr>
              <a:t>URL sidebar &amp; indexing controls   ·   chat interface   ·   freshness report   ·   source viewer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2258568"/>
            <a:ext cx="0" cy="201168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52560" y="2258568"/>
            <a:ext cx="0" cy="201168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920240" y="2258568"/>
            <a:ext cx="2103120" cy="20116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900" i="1">
                <a:solidFill>
                  <a:srgbClr val="14222E"/>
                </a:solidFill>
                <a:latin typeface="Trebuchet MS"/>
              </a:rPr>
              <a:t>index_urls()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258568"/>
            <a:ext cx="2103120" cy="20116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900" i="1">
                <a:solidFill>
                  <a:srgbClr val="14222E"/>
                </a:solidFill>
                <a:latin typeface="Trebuchet MS"/>
              </a:rPr>
              <a:t>ask_question()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32888"/>
            <a:ext cx="1100023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4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6243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22E"/>
                </a:solidFill>
                <a:latin typeface="Trebuchet MS"/>
              </a:rPr>
              <a:t>APPLICATION LOGIC LAYER  —  webrag.py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035808"/>
            <a:ext cx="1815998" cy="777240"/>
          </a:xfrm>
          <a:prstGeom prst="rect">
            <a:avLst/>
          </a:prstGeom>
          <a:solidFill>
            <a:srgbClr val="EEEBE2"/>
          </a:solidFill>
          <a:ln w="9525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050" b="1">
                <a:solidFill>
                  <a:srgbClr val="14222E"/>
                </a:solidFill>
                <a:latin typeface="Trebuchet MS"/>
              </a:rPr>
              <a:t>WebBaseLoader</a:t>
            </a:r>
          </a:p>
          <a:p>
            <a:pPr algn="ctr"/>
            <a:r>
              <a:rPr sz="800">
                <a:solidFill>
                  <a:srgbClr val="5B636B"/>
                </a:solidFill>
                <a:latin typeface="Trebuchet MS"/>
              </a:rPr>
              <a:t>Fetch &amp; parse 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4718" y="3035808"/>
            <a:ext cx="1815998" cy="777240"/>
          </a:xfrm>
          <a:prstGeom prst="rect">
            <a:avLst/>
          </a:prstGeom>
          <a:solidFill>
            <a:srgbClr val="EEEBE2"/>
          </a:solidFill>
          <a:ln w="9525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050" b="1">
                <a:solidFill>
                  <a:srgbClr val="14222E"/>
                </a:solidFill>
                <a:latin typeface="Trebuchet MS"/>
              </a:rPr>
              <a:t>Hash Tracker</a:t>
            </a:r>
          </a:p>
          <a:p>
            <a:pPr algn="ctr"/>
            <a:r>
              <a:rPr sz="800">
                <a:solidFill>
                  <a:srgbClr val="5B636B"/>
                </a:solidFill>
                <a:latin typeface="Trebuchet MS"/>
              </a:rPr>
              <a:t>SHA-256 change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86476" y="3035808"/>
            <a:ext cx="1815998" cy="777240"/>
          </a:xfrm>
          <a:prstGeom prst="rect">
            <a:avLst/>
          </a:prstGeom>
          <a:solidFill>
            <a:srgbClr val="EEEBE2"/>
          </a:solidFill>
          <a:ln w="9525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050" b="1">
                <a:solidFill>
                  <a:srgbClr val="14222E"/>
                </a:solidFill>
                <a:latin typeface="Trebuchet MS"/>
              </a:rPr>
              <a:t>Text Splitter</a:t>
            </a:r>
          </a:p>
          <a:p>
            <a:pPr algn="ctr"/>
            <a:r>
              <a:rPr sz="800">
                <a:solidFill>
                  <a:srgbClr val="5B636B"/>
                </a:solidFill>
                <a:latin typeface="Trebuchet MS"/>
              </a:rPr>
              <a:t>1000-char chunks, 200 overlap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8235" y="3035808"/>
            <a:ext cx="1815998" cy="777240"/>
          </a:xfrm>
          <a:prstGeom prst="rect">
            <a:avLst/>
          </a:prstGeom>
          <a:solidFill>
            <a:srgbClr val="EEEBE2"/>
          </a:solidFill>
          <a:ln w="9525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050" b="1">
                <a:solidFill>
                  <a:srgbClr val="14222E"/>
                </a:solidFill>
                <a:latin typeface="Trebuchet MS"/>
              </a:rPr>
              <a:t>Embeddings</a:t>
            </a:r>
          </a:p>
          <a:p>
            <a:pPr algn="ctr"/>
            <a:r>
              <a:rPr sz="800">
                <a:solidFill>
                  <a:srgbClr val="5B636B"/>
                </a:solidFill>
                <a:latin typeface="Trebuchet MS"/>
              </a:rPr>
              <a:t>nomic-embed-text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49993" y="3035808"/>
            <a:ext cx="1815998" cy="777240"/>
          </a:xfrm>
          <a:prstGeom prst="rect">
            <a:avLst/>
          </a:prstGeom>
          <a:solidFill>
            <a:srgbClr val="EEEBE2"/>
          </a:solidFill>
          <a:ln w="9525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050" b="1">
                <a:solidFill>
                  <a:srgbClr val="14222E"/>
                </a:solidFill>
                <a:latin typeface="Trebuchet MS"/>
              </a:rPr>
              <a:t>Retrieval Chain</a:t>
            </a:r>
          </a:p>
          <a:p>
            <a:pPr algn="ctr"/>
            <a:r>
              <a:rPr sz="800">
                <a:solidFill>
                  <a:srgbClr val="5B636B"/>
                </a:solidFill>
                <a:latin typeface="Trebuchet MS"/>
              </a:rPr>
              <a:t>LangChain RAG pipeline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11680" y="3950208"/>
            <a:ext cx="0" cy="201168"/>
          </a:xfrm>
          <a:prstGeom prst="line">
            <a:avLst/>
          </a:prstGeom>
          <a:ln w="19050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3950208"/>
            <a:ext cx="0" cy="201168"/>
          </a:xfrm>
          <a:prstGeom prst="line">
            <a:avLst/>
          </a:prstGeom>
          <a:ln w="19050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32320" y="3950208"/>
            <a:ext cx="0" cy="201168"/>
          </a:xfrm>
          <a:prstGeom prst="line">
            <a:avLst/>
          </a:prstGeom>
          <a:ln w="19050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92640" y="3950208"/>
            <a:ext cx="0" cy="201168"/>
          </a:xfrm>
          <a:prstGeom prst="line">
            <a:avLst/>
          </a:prstGeom>
          <a:ln w="19050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4360" y="4224528"/>
            <a:ext cx="2338578" cy="1051560"/>
          </a:xfrm>
          <a:prstGeom prst="roundRect">
            <a:avLst>
              <a:gd name="adj" fmla="val 8000"/>
            </a:avLst>
          </a:prstGeom>
          <a:solidFill>
            <a:srgbClr val="1E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E4C98C"/>
                </a:solidFill>
                <a:latin typeface="Trebuchet MS"/>
              </a:rPr>
              <a:t>Ollama Server</a:t>
            </a:r>
          </a:p>
          <a:p>
            <a:pPr algn="ctr"/>
            <a:r>
              <a:rPr sz="900">
                <a:solidFill>
                  <a:srgbClr val="C9CED4"/>
                </a:solidFill>
                <a:latin typeface="Trebuchet MS"/>
              </a:rPr>
              <a:t>LLM + embedding
inference (local)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81578" y="4224528"/>
            <a:ext cx="2338578" cy="1051560"/>
          </a:xfrm>
          <a:prstGeom prst="roundRect">
            <a:avLst>
              <a:gd name="adj" fmla="val 8000"/>
            </a:avLst>
          </a:prstGeom>
          <a:solidFill>
            <a:srgbClr val="1E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E4C98C"/>
                </a:solidFill>
                <a:latin typeface="Trebuchet MS"/>
              </a:rPr>
              <a:t>ChromaDB</a:t>
            </a:r>
          </a:p>
          <a:p>
            <a:pPr algn="ctr"/>
            <a:r>
              <a:rPr sz="900">
                <a:solidFill>
                  <a:srgbClr val="C9CED4"/>
                </a:solidFill>
                <a:latin typeface="Trebuchet MS"/>
              </a:rPr>
              <a:t>Persistent vector
store  ·  ./chroma_db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8796" y="4224528"/>
            <a:ext cx="2338578" cy="1051560"/>
          </a:xfrm>
          <a:prstGeom prst="roundRect">
            <a:avLst>
              <a:gd name="adj" fmla="val 8000"/>
            </a:avLst>
          </a:prstGeom>
          <a:solidFill>
            <a:srgbClr val="1E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E4C98C"/>
                </a:solidFill>
                <a:latin typeface="Trebuchet MS"/>
              </a:rPr>
              <a:t>page_states.json</a:t>
            </a:r>
          </a:p>
          <a:p>
            <a:pPr algn="ctr"/>
            <a:r>
              <a:rPr sz="900">
                <a:solidFill>
                  <a:srgbClr val="C9CED4"/>
                </a:solidFill>
                <a:latin typeface="Trebuchet MS"/>
              </a:rPr>
              <a:t>URL hash &amp; text
snapshot store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56014" y="4224528"/>
            <a:ext cx="2338578" cy="1051560"/>
          </a:xfrm>
          <a:prstGeom prst="roundRect">
            <a:avLst>
              <a:gd name="adj" fmla="val 8000"/>
            </a:avLst>
          </a:prstGeom>
          <a:solidFill>
            <a:srgbClr val="1E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E4C98C"/>
                </a:solidFill>
                <a:latin typeface="Trebuchet MS"/>
              </a:rPr>
              <a:t>Live Web Pages</a:t>
            </a:r>
          </a:p>
          <a:p>
            <a:pPr algn="ctr"/>
            <a:r>
              <a:rPr sz="900">
                <a:solidFill>
                  <a:srgbClr val="C9CED4"/>
                </a:solidFill>
                <a:latin typeface="Trebuchet MS"/>
              </a:rPr>
              <a:t>External HTTP
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Data Flow Diagram — Level 0 (Context)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Data Flow Diagram · Level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1828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00" b="1">
                <a:solidFill>
                  <a:srgbClr val="14222E"/>
                </a:solidFill>
                <a:latin typeface="Trebuchet MS"/>
              </a:rPr>
              <a:t>USER</a:t>
            </a:r>
          </a:p>
          <a:p>
            <a:pPr algn="ctr"/>
            <a:r>
              <a:rPr sz="850">
                <a:solidFill>
                  <a:srgbClr val="5B636B"/>
                </a:solidFill>
                <a:latin typeface="Trebuchet MS"/>
              </a:rPr>
              <a:t>Researcher / Analyst</a:t>
            </a:r>
          </a:p>
        </p:txBody>
      </p:sp>
      <p:sp>
        <p:nvSpPr>
          <p:cNvPr id="11" name="Oval 10"/>
          <p:cNvSpPr/>
          <p:nvPr/>
        </p:nvSpPr>
        <p:spPr>
          <a:xfrm>
            <a:off x="4709160" y="2423160"/>
            <a:ext cx="2743200" cy="1645920"/>
          </a:xfrm>
          <a:prstGeom prst="ellipse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E4C98C"/>
                </a:solidFill>
                <a:latin typeface="Trebuchet MS"/>
              </a:rPr>
              <a:t>0.0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webRAG System</a:t>
            </a:r>
          </a:p>
          <a:p>
            <a:pPr algn="ctr"/>
            <a:r>
              <a:rPr sz="950">
                <a:solidFill>
                  <a:srgbClr val="C9CED4"/>
                </a:solidFill>
                <a:latin typeface="Trebuchet MS"/>
              </a:rPr>
              <a:t>index &amp; answer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38360" y="2743200"/>
            <a:ext cx="1828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00" b="1">
                <a:solidFill>
                  <a:srgbClr val="14222E"/>
                </a:solidFill>
                <a:latin typeface="Trebuchet MS"/>
              </a:rPr>
              <a:t>WEB PAGES</a:t>
            </a:r>
          </a:p>
          <a:p>
            <a:pPr algn="ctr"/>
            <a:r>
              <a:rPr sz="850">
                <a:solidFill>
                  <a:srgbClr val="5B636B"/>
                </a:solidFill>
                <a:latin typeface="Trebuchet MS"/>
              </a:rPr>
              <a:t>External HTTP sources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68880" y="2862072"/>
            <a:ext cx="2240280" cy="182880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578608" y="2624328"/>
            <a:ext cx="1965960" cy="29260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950" i="1">
                <a:solidFill>
                  <a:srgbClr val="14222E"/>
                </a:solidFill>
                <a:latin typeface="Trebuchet MS"/>
              </a:rPr>
              <a:t>URLs + Questions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2468880" y="3447288"/>
            <a:ext cx="2240280" cy="182880"/>
          </a:xfrm>
          <a:prstGeom prst="line">
            <a:avLst/>
          </a:prstGeom>
          <a:ln w="22225">
            <a:solidFill>
              <a:srgbClr val="B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578608" y="3611880"/>
            <a:ext cx="1965960" cy="36576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850" i="1">
                <a:solidFill>
                  <a:srgbClr val="14222E"/>
                </a:solidFill>
                <a:latin typeface="Trebuchet MS"/>
              </a:rPr>
              <a:t>Answers + Freshness 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52360" y="2862072"/>
            <a:ext cx="2286000" cy="182880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562088" y="2624328"/>
            <a:ext cx="1965960" cy="29260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950" i="1">
                <a:solidFill>
                  <a:srgbClr val="14222E"/>
                </a:solidFill>
                <a:latin typeface="Trebuchet MS"/>
              </a:rPr>
              <a:t>HTTP Fetch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452360" y="3447288"/>
            <a:ext cx="2286000" cy="182880"/>
          </a:xfrm>
          <a:prstGeom prst="line">
            <a:avLst/>
          </a:prstGeom>
          <a:ln w="22225">
            <a:solidFill>
              <a:srgbClr val="B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562088" y="3611880"/>
            <a:ext cx="1965960" cy="29260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950" i="1">
                <a:solidFill>
                  <a:srgbClr val="14222E"/>
                </a:solidFill>
                <a:latin typeface="Trebuchet MS"/>
              </a:rPr>
              <a:t>HTML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892040"/>
            <a:ext cx="10378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507492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22E"/>
                </a:solidFill>
                <a:latin typeface="Trebuchet MS"/>
              </a:rPr>
              <a:t>Reading the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413248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36B"/>
                </a:solidFill>
                <a:latin typeface="Trebuchet MS"/>
              </a:rPr>
              <a:t>At the highest level, webRAG sits between two external entities: the User, who supplies URLs and questions, and the target Web Pages, which are fetched over HTTP. All indexing and retrieval logic is encapsulated inside the single process shown above.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Data Flow Diagram — Level 1 (Detailed)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Data Flow Diagram · 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E4A3A"/>
                </a:solidFill>
                <a:latin typeface="Trebuchet MS"/>
              </a:rPr>
              <a:t>INDEXING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234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00" b="1">
                <a:solidFill>
                  <a:srgbClr val="14222E"/>
                </a:solidFill>
                <a:latin typeface="Trebuchet MS"/>
              </a:rPr>
              <a:t>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69164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E4C98C"/>
                </a:solidFill>
                <a:latin typeface="Trebuchet MS"/>
              </a:rPr>
              <a:t>1.0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rebuchet MS"/>
              </a:rPr>
              <a:t>Fetch Pages</a:t>
            </a:r>
          </a:p>
          <a:p>
            <a:pPr algn="ctr"/>
            <a:r>
              <a:rPr sz="850">
                <a:solidFill>
                  <a:srgbClr val="E4C98C"/>
                </a:solidFill>
                <a:latin typeface="Trebuchet MS"/>
              </a:rPr>
              <a:t>WebBaseLoader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9164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E4C98C"/>
                </a:solidFill>
                <a:latin typeface="Trebuchet MS"/>
              </a:rPr>
              <a:t>2.0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rebuchet MS"/>
              </a:rPr>
              <a:t>Detect Change</a:t>
            </a:r>
          </a:p>
          <a:p>
            <a:pPr algn="ctr"/>
            <a:r>
              <a:rPr sz="850">
                <a:solidFill>
                  <a:srgbClr val="E4C98C"/>
                </a:solidFill>
                <a:latin typeface="Trebuchet MS"/>
              </a:rPr>
              <a:t>SHA-256 hash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9164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E4C98C"/>
                </a:solidFill>
                <a:latin typeface="Trebuchet MS"/>
              </a:rPr>
              <a:t>3.0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rebuchet MS"/>
              </a:rPr>
              <a:t>Split Text</a:t>
            </a:r>
          </a:p>
          <a:p>
            <a:pPr algn="ctr"/>
            <a:r>
              <a:rPr sz="850">
                <a:solidFill>
                  <a:srgbClr val="E4C98C"/>
                </a:solidFill>
                <a:latin typeface="Trebuchet MS"/>
              </a:rPr>
              <a:t>1000 / 200 chunks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9164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E4C98C"/>
                </a:solidFill>
                <a:latin typeface="Trebuchet MS"/>
              </a:rPr>
              <a:t>4.0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rebuchet MS"/>
              </a:rPr>
              <a:t>Embed Chunks</a:t>
            </a:r>
          </a:p>
          <a:p>
            <a:pPr algn="ctr"/>
            <a:r>
              <a:rPr sz="850">
                <a:solidFill>
                  <a:srgbClr val="E4C98C"/>
                </a:solidFill>
                <a:latin typeface="Trebuchet MS"/>
              </a:rPr>
              <a:t>nomic-embed-text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95560" y="1783080"/>
            <a:ext cx="1417320" cy="0"/>
          </a:xfrm>
          <a:prstGeom prst="line">
            <a:avLst/>
          </a:prstGeom>
          <a:ln w="19050">
            <a:solidFill>
              <a:srgbClr val="142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95560" y="2560320"/>
            <a:ext cx="1417320" cy="0"/>
          </a:xfrm>
          <a:prstGeom prst="line">
            <a:avLst/>
          </a:prstGeom>
          <a:ln w="19050">
            <a:solidFill>
              <a:srgbClr val="142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195560" y="1783080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4222E"/>
                </a:solidFill>
                <a:latin typeface="Trebuchet MS"/>
              </a:rPr>
              <a:t>D1  page_states.json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" y="2167128"/>
            <a:ext cx="320040" cy="0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40480" y="2167128"/>
            <a:ext cx="320040" cy="0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52160" y="2167128"/>
            <a:ext cx="320040" cy="0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2167128"/>
            <a:ext cx="320039" cy="0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875520" y="2167128"/>
            <a:ext cx="320040" cy="0"/>
          </a:xfrm>
          <a:prstGeom prst="line">
            <a:avLst/>
          </a:prstGeom>
          <a:ln w="22225">
            <a:solidFill>
              <a:srgbClr val="B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51960" y="26974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5B636B"/>
                </a:solidFill>
                <a:latin typeface="Trebuchet MS"/>
              </a:rPr>
              <a:t>reads / writes D1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83879" y="3017520"/>
            <a:ext cx="1874519" cy="0"/>
          </a:xfrm>
          <a:prstGeom prst="line">
            <a:avLst/>
          </a:prstGeom>
          <a:ln w="19050">
            <a:solidFill>
              <a:srgbClr val="142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183879" y="3703320"/>
            <a:ext cx="1874519" cy="0"/>
          </a:xfrm>
          <a:prstGeom prst="line">
            <a:avLst/>
          </a:prstGeom>
          <a:ln w="19050">
            <a:solidFill>
              <a:srgbClr val="142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83879" y="3017520"/>
            <a:ext cx="187451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4222E"/>
                </a:solidFill>
                <a:latin typeface="Trebuchet MS"/>
              </a:rPr>
              <a:t>D2  ChromaDB Vector Store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98280" y="2651760"/>
            <a:ext cx="0" cy="365760"/>
          </a:xfrm>
          <a:prstGeom prst="line">
            <a:avLst/>
          </a:prstGeom>
          <a:ln w="22225">
            <a:solidFill>
              <a:srgbClr val="B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4160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E4A3A"/>
                </a:solidFill>
                <a:latin typeface="Trebuchet MS"/>
              </a:rPr>
              <a:t>QUERY 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617720"/>
            <a:ext cx="1234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00" b="1">
                <a:solidFill>
                  <a:srgbClr val="14222E"/>
                </a:solidFill>
                <a:latin typeface="Trebuchet MS"/>
              </a:rPr>
              <a:t>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48840" y="448056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E4C98C"/>
                </a:solidFill>
                <a:latin typeface="Trebuchet MS"/>
              </a:rPr>
              <a:t>5.0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rebuchet MS"/>
              </a:rPr>
              <a:t>Embed Query</a:t>
            </a:r>
          </a:p>
          <a:p>
            <a:pPr algn="ctr"/>
            <a:r>
              <a:rPr sz="850">
                <a:solidFill>
                  <a:srgbClr val="E4C98C"/>
                </a:solidFill>
                <a:latin typeface="Trebuchet MS"/>
              </a:rPr>
              <a:t>nomic-embed-text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448056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E4C98C"/>
                </a:solidFill>
                <a:latin typeface="Trebuchet MS"/>
              </a:rPr>
              <a:t>6.0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rebuchet MS"/>
              </a:rPr>
              <a:t>Retrieve Top-K</a:t>
            </a:r>
          </a:p>
          <a:p>
            <a:pPr algn="ctr"/>
            <a:r>
              <a:rPr sz="850">
                <a:solidFill>
                  <a:srgbClr val="E4C98C"/>
                </a:solidFill>
                <a:latin typeface="Trebuchet MS"/>
              </a:rPr>
              <a:t>k = 4 chunks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48056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E4C98C"/>
                </a:solidFill>
                <a:latin typeface="Trebuchet MS"/>
              </a:rPr>
              <a:t>7.0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rebuchet MS"/>
              </a:rPr>
              <a:t>Build Prompt</a:t>
            </a:r>
          </a:p>
          <a:p>
            <a:pPr algn="ctr"/>
            <a:r>
              <a:rPr sz="850">
                <a:solidFill>
                  <a:srgbClr val="E4C98C"/>
                </a:solidFill>
                <a:latin typeface="Trebuchet MS"/>
              </a:rPr>
              <a:t>context + question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448056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E4C98C"/>
                </a:solidFill>
                <a:latin typeface="Trebuchet MS"/>
              </a:rPr>
              <a:t>8.0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Trebuchet MS"/>
              </a:rPr>
              <a:t>Generate Answer</a:t>
            </a:r>
          </a:p>
          <a:p>
            <a:pPr algn="ctr"/>
            <a:r>
              <a:rPr sz="850">
                <a:solidFill>
                  <a:srgbClr val="E4C98C"/>
                </a:solidFill>
                <a:latin typeface="Trebuchet MS"/>
              </a:rPr>
              <a:t>gemma4 : 31b-cloud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28800" y="4956048"/>
            <a:ext cx="320040" cy="0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40480" y="4956048"/>
            <a:ext cx="320040" cy="0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52160" y="4956048"/>
            <a:ext cx="320040" cy="0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63840" y="4956048"/>
            <a:ext cx="320039" cy="0"/>
          </a:xfrm>
          <a:prstGeom prst="line">
            <a:avLst/>
          </a:prstGeom>
          <a:ln w="22225">
            <a:solidFill>
              <a:srgbClr val="1422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98280" y="3703320"/>
            <a:ext cx="0" cy="182880"/>
          </a:xfrm>
          <a:prstGeom prst="bentConnector3">
            <a:avLst/>
          </a:prstGeom>
          <a:ln w="22225">
            <a:solidFill>
              <a:srgbClr val="B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001768" y="3886200"/>
            <a:ext cx="4096512" cy="0"/>
          </a:xfrm>
          <a:prstGeom prst="bentConnector3">
            <a:avLst/>
          </a:prstGeom>
          <a:ln w="22225">
            <a:solidFill>
              <a:srgbClr val="B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01768" y="3886200"/>
            <a:ext cx="0" cy="594360"/>
          </a:xfrm>
          <a:prstGeom prst="bentConnector3">
            <a:avLst/>
          </a:prstGeom>
          <a:ln w="22225">
            <a:solidFill>
              <a:srgbClr val="B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29700" y="5440680"/>
            <a:ext cx="0" cy="274320"/>
          </a:xfrm>
          <a:prstGeom prst="bentConnector3">
            <a:avLst/>
          </a:prstGeom>
          <a:ln w="19050">
            <a:solidFill>
              <a:srgbClr val="5B63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211580" y="5715000"/>
            <a:ext cx="7818120" cy="0"/>
          </a:xfrm>
          <a:prstGeom prst="bentConnector3">
            <a:avLst/>
          </a:prstGeom>
          <a:ln w="19050">
            <a:solidFill>
              <a:srgbClr val="5B63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211580" y="5349240"/>
            <a:ext cx="0" cy="365760"/>
          </a:xfrm>
          <a:prstGeom prst="bentConnector3">
            <a:avLst/>
          </a:prstGeom>
          <a:ln w="19050">
            <a:solidFill>
              <a:srgbClr val="5B63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206240" y="5568696"/>
            <a:ext cx="2011680" cy="29260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850" i="1">
                <a:solidFill>
                  <a:srgbClr val="5B636B"/>
                </a:solidFill>
                <a:latin typeface="Trebuchet MS"/>
              </a:rPr>
              <a:t>Answer + Source Docs →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63040"/>
            <a:ext cx="11000232" cy="457200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Library /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554480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554480"/>
            <a:ext cx="5650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What It Does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920240"/>
            <a:ext cx="1100023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22E"/>
                </a:solidFill>
                <a:latin typeface="Trebuchet MS"/>
              </a:rPr>
              <a:t>Streamlit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1168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E4A3A"/>
                </a:solidFill>
                <a:latin typeface="Trebuchet MS"/>
              </a:rPr>
              <a:t>Application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011680"/>
            <a:ext cx="5559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Sidebar for indexing, chat interface, freshness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487168"/>
            <a:ext cx="11000232" cy="566928"/>
          </a:xfrm>
          <a:prstGeom prst="rect">
            <a:avLst/>
          </a:prstGeom>
          <a:solidFill>
            <a:srgbClr val="EF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57860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22E"/>
                </a:solidFill>
                <a:latin typeface="Trebuchet MS"/>
              </a:rPr>
              <a:t>LangChain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7860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E4A3A"/>
                </a:solidFill>
                <a:latin typeface="Trebuchet MS"/>
              </a:rPr>
              <a:t>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578608"/>
            <a:ext cx="5559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Loaders, splitters, prompt templates, retrieval chains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054096"/>
            <a:ext cx="1100023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45536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22E"/>
                </a:solidFill>
                <a:latin typeface="Trebuchet MS"/>
              </a:rPr>
              <a:t>langchain-community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14553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E4A3A"/>
                </a:solidFill>
                <a:latin typeface="Trebuchet MS"/>
              </a:rPr>
              <a:t>Web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145536"/>
            <a:ext cx="5559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WebBaseLoader scrapes and cleans page 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621024"/>
            <a:ext cx="11000232" cy="566928"/>
          </a:xfrm>
          <a:prstGeom prst="rect">
            <a:avLst/>
          </a:prstGeom>
          <a:solidFill>
            <a:srgbClr val="EF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71246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22E"/>
                </a:solidFill>
                <a:latin typeface="Trebuchet MS"/>
              </a:rPr>
              <a:t>Chroma / chromadb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712464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E4A3A"/>
                </a:solidFill>
                <a:latin typeface="Trebuchet MS"/>
              </a:rPr>
              <a:t>Vector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712464"/>
            <a:ext cx="5559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Local, persistent semantic search over embeddings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187952"/>
            <a:ext cx="1100023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279392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22E"/>
                </a:solidFill>
                <a:latin typeface="Trebuchet MS"/>
              </a:rPr>
              <a:t>Ollama + langchain-ollama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279392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E4A3A"/>
                </a:solidFill>
                <a:latin typeface="Trebuchet MS"/>
              </a:rPr>
              <a:t>Model runtime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4279392"/>
            <a:ext cx="5559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Serves the LLM and embedding model locally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754880"/>
            <a:ext cx="11000232" cy="566928"/>
          </a:xfrm>
          <a:prstGeom prst="rect">
            <a:avLst/>
          </a:prstGeom>
          <a:solidFill>
            <a:srgbClr val="EF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84632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22E"/>
                </a:solidFill>
                <a:latin typeface="Trebuchet MS"/>
              </a:rPr>
              <a:t>BeautifulSoup4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84632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E4A3A"/>
                </a:solidFill>
                <a:latin typeface="Trebuchet MS"/>
              </a:rPr>
              <a:t>HTML parsing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4846320"/>
            <a:ext cx="5559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Strips tags/scripts to plain readable text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321808"/>
            <a:ext cx="1100023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541324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22E"/>
                </a:solidFill>
                <a:latin typeface="Trebuchet MS"/>
              </a:rPr>
              <a:t>tiktoken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1324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E4A3A"/>
                </a:solidFill>
                <a:latin typeface="Trebuchet MS"/>
              </a:rPr>
              <a:t>Tokenisation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5413248"/>
            <a:ext cx="5559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Accurate token counting during text splitting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5888736"/>
            <a:ext cx="11000232" cy="566928"/>
          </a:xfrm>
          <a:prstGeom prst="rect">
            <a:avLst/>
          </a:prstGeom>
          <a:solidFill>
            <a:srgbClr val="EF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980176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22E"/>
                </a:solidFill>
                <a:latin typeface="Trebuchet MS"/>
              </a:rPr>
              <a:t>python-dotenv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98017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E4A3A"/>
                </a:solidFill>
                <a:latin typeface="Trebuchet MS"/>
              </a:rPr>
              <a:t>Configuration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5980176"/>
            <a:ext cx="5559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Loads environment variables from .env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1463040"/>
            <a:ext cx="11000232" cy="4992624"/>
          </a:xfrm>
          <a:prstGeom prst="rect">
            <a:avLst/>
          </a:prstGeom>
          <a:noFill/>
          <a:ln w="9525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FEATURE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Grounded Question Answering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Feature 1 · Grounded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41605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B88A2E"/>
                </a:solidFill>
                <a:latin typeface="Trebuchet MS"/>
              </a:rPr>
              <a:t>—  Strictly sourced.  </a:t>
            </a:r>
            <a:r>
              <a:rPr sz="1250">
                <a:solidFill>
                  <a:srgbClr val="23272B"/>
                </a:solidFill>
                <a:latin typeface="Trebuchet MS"/>
              </a:rPr>
              <a:t>Every answer is generated only from the top-4 retrieved chunks of indexed pages.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B88A2E"/>
                </a:solidFill>
                <a:latin typeface="Trebuchet MS"/>
              </a:rPr>
              <a:t>—  Refuses to guess.  </a:t>
            </a:r>
            <a:r>
              <a:rPr sz="1250">
                <a:solidFill>
                  <a:srgbClr val="23272B"/>
                </a:solidFill>
                <a:latin typeface="Trebuchet MS"/>
              </a:rPr>
              <a:t>If the context lacks the answer, the bot states it plainly instead of inventing facts.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B88A2E"/>
                </a:solidFill>
                <a:latin typeface="Trebuchet MS"/>
              </a:rPr>
              <a:t>—  Cited evidence.  </a:t>
            </a:r>
            <a:r>
              <a:rPr sz="1250">
                <a:solidFill>
                  <a:srgbClr val="23272B"/>
                </a:solidFill>
                <a:latin typeface="Trebuchet MS"/>
              </a:rPr>
              <a:t>Each response ships with an expandable Sources panel linking back to the origin URL.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43400"/>
            <a:ext cx="4160520" cy="1691640"/>
          </a:xfrm>
          <a:prstGeom prst="rect">
            <a:avLst/>
          </a:prstGeom>
          <a:solidFill>
            <a:srgbClr val="14222E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C98C"/>
                </a:solidFill>
                <a:latin typeface="Trebuchet MS"/>
              </a:rPr>
              <a:t>System Prompt (excerpt)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E6E7EA"/>
                </a:solidFill>
                <a:latin typeface="Trebuchet MS"/>
              </a:rPr>
              <a:t>“Answer the question based ONLY on the following context. If the answer is not contained in the context, say I couldn't find that information in the indexed pages.”</a:t>
            </a:r>
          </a:p>
        </p:txBody>
      </p:sp>
      <p:pic>
        <p:nvPicPr>
          <p:cNvPr id="14" name="Picture 13" descr="questioning_from_RAG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08760"/>
            <a:ext cx="6263640" cy="308288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74920" y="1508760"/>
            <a:ext cx="6263640" cy="3082885"/>
          </a:xfrm>
          <a:prstGeom prst="rect">
            <a:avLst/>
          </a:prstGeom>
          <a:noFill/>
          <a:ln w="1587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4646509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36B"/>
                </a:solidFill>
                <a:latin typeface="Trebuchet MS"/>
              </a:rPr>
              <a:t>Fig 1: grounded answer with an expandable Sources panel citing the origin URL</a:t>
            </a:r>
          </a:p>
        </p:txBody>
      </p:sp>
      <p:pic>
        <p:nvPicPr>
          <p:cNvPr id="17" name="Picture 16" descr="evidence_not_f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957405"/>
            <a:ext cx="6263640" cy="73320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74920" y="4957405"/>
            <a:ext cx="6263640" cy="733202"/>
          </a:xfrm>
          <a:prstGeom prst="rect">
            <a:avLst/>
          </a:prstGeom>
          <a:noFill/>
          <a:ln w="1587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0" y="5745471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36B"/>
                </a:solidFill>
                <a:latin typeface="Trebuchet MS"/>
              </a:rPr>
              <a:t>Fig 2: an off-topic question — the bot declines rather than hallucinating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FEATURE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Answers Stay Synchronised With Live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Feature 2 · Dynamic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B88A2E"/>
                </a:solidFill>
                <a:latin typeface="Trebuchet MS"/>
              </a:rPr>
              <a:t>—  Re-index on demand.  </a:t>
            </a:r>
            <a:r>
              <a:rPr sz="1250">
                <a:solidFill>
                  <a:srgbClr val="23272B"/>
                </a:solidFill>
                <a:latin typeface="Trebuchet MS"/>
              </a:rPr>
              <a:t>Clicking Index / Refresh re-fetches every URL and rebuilds the vector store from the current page content — no stale answers.</a:t>
            </a:r>
          </a:p>
        </p:txBody>
      </p:sp>
      <p:pic>
        <p:nvPicPr>
          <p:cNvPr id="11" name="Picture 10" descr="mockU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5349240" cy="263282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2011680"/>
            <a:ext cx="5349240" cy="2632829"/>
          </a:xfrm>
          <a:prstGeom prst="rect">
            <a:avLst/>
          </a:prstGeom>
          <a:noFill/>
          <a:ln w="1587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717661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36B"/>
                </a:solidFill>
                <a:latin typeface="Trebuchet MS"/>
              </a:rPr>
              <a:t>Fig 1: source page — original content, first indexed</a:t>
            </a:r>
          </a:p>
        </p:txBody>
      </p:sp>
      <p:pic>
        <p:nvPicPr>
          <p:cNvPr id="14" name="Picture 13" descr="mockUniUpd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011680"/>
            <a:ext cx="5349240" cy="263282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45352" y="2011680"/>
            <a:ext cx="5349240" cy="2632829"/>
          </a:xfrm>
          <a:prstGeom prst="rect">
            <a:avLst/>
          </a:prstGeom>
          <a:noFill/>
          <a:ln w="1587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45352" y="4717661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36B"/>
                </a:solidFill>
                <a:latin typeface="Trebuchet MS"/>
              </a:rPr>
              <a:t>Fig 2: same page after edits — re-indexed, answers now reflect the change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88152" y="0"/>
            <a:ext cx="457200" cy="0"/>
          </a:xfrm>
          <a:prstGeom prst="line">
            <a:avLst/>
          </a:prstGeom>
          <a:ln w="31750">
            <a:solidFill>
              <a:srgbClr val="B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FEATURE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Freshness Report &amp; Diff Viewer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Feature 3 · Freshness &amp; Diff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41148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B88A2E"/>
                </a:solidFill>
                <a:latin typeface="Trebuchet MS"/>
              </a:rPr>
              <a:t>—  SHA-256 fingerprint.  </a:t>
            </a:r>
            <a:r>
              <a:rPr sz="1250">
                <a:solidFill>
                  <a:srgbClr val="23272B"/>
                </a:solidFill>
                <a:latin typeface="Trebuchet MS"/>
              </a:rPr>
              <a:t>Every page's full text is hashed after each fetch.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B88A2E"/>
                </a:solidFill>
                <a:latin typeface="Trebuchet MS"/>
              </a:rPr>
              <a:t>—  Three-way status.  </a:t>
            </a:r>
            <a:r>
              <a:rPr sz="1250">
                <a:solidFill>
                  <a:srgbClr val="23272B"/>
                </a:solidFill>
                <a:latin typeface="Trebuchet MS"/>
              </a:rPr>
              <a:t>Compared against the stored hash: New, Unchanged, or Changed.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B88A2E"/>
                </a:solidFill>
                <a:latin typeface="Trebuchet MS"/>
              </a:rPr>
              <a:t>—  Unified diff.  </a:t>
            </a:r>
            <a:r>
              <a:rPr sz="1250">
                <a:solidFill>
                  <a:srgbClr val="23272B"/>
                </a:solidFill>
                <a:latin typeface="Trebuchet MS"/>
              </a:rPr>
              <a:t>When changed, a line-level diff of exactly what was added or removed is rendered inline.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526280"/>
            <a:ext cx="4114800" cy="1508760"/>
          </a:xfrm>
          <a:prstGeom prst="rect">
            <a:avLst/>
          </a:prstGeom>
          <a:solidFill>
            <a:srgbClr val="1B1B1B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681728"/>
            <a:ext cx="36576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9CD67A"/>
                </a:solidFill>
                <a:latin typeface="Consolas"/>
              </a:rPr>
              <a:t>-  Rs. 50,000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9CD67A"/>
                </a:solidFill>
                <a:latin typeface="Consolas"/>
              </a:rPr>
              <a:t>+  Rs. 75,000</a:t>
            </a:r>
          </a:p>
        </p:txBody>
      </p:sp>
      <p:pic>
        <p:nvPicPr>
          <p:cNvPr id="13" name="Picture 12" descr="re-indexing_test_page_after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08760"/>
            <a:ext cx="6263640" cy="308288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74920" y="1508760"/>
            <a:ext cx="6263640" cy="3082885"/>
          </a:xfrm>
          <a:prstGeom prst="rect">
            <a:avLst/>
          </a:prstGeom>
          <a:noFill/>
          <a:ln w="1587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4646509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36B"/>
                </a:solidFill>
                <a:latin typeface="Trebuchet MS"/>
              </a:rPr>
              <a:t>Fig 1: Freshness Report flags the page as Changed and displays the diff</a:t>
            </a:r>
          </a:p>
        </p:txBody>
      </p:sp>
      <p:pic>
        <p:nvPicPr>
          <p:cNvPr id="16" name="Picture 15" descr="evidence_upd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957405"/>
            <a:ext cx="6263640" cy="69130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74920" y="4957405"/>
            <a:ext cx="6263640" cy="691304"/>
          </a:xfrm>
          <a:prstGeom prst="rect">
            <a:avLst/>
          </a:prstGeom>
          <a:noFill/>
          <a:ln w="1587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5703573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36B"/>
                </a:solidFill>
                <a:latin typeface="Trebuchet MS"/>
              </a:rPr>
              <a:t>Fig 2: chat answer updates to reflect the new page content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Application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Application in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11</a:t>
            </a:r>
          </a:p>
        </p:txBody>
      </p:sp>
      <p:pic>
        <p:nvPicPr>
          <p:cNvPr id="10" name="Picture 9" descr="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3520440" cy="17327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1508760"/>
            <a:ext cx="3520440" cy="1732716"/>
          </a:xfrm>
          <a:prstGeom prst="rect">
            <a:avLst/>
          </a:prstGeom>
          <a:noFill/>
          <a:ln w="1587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31462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36B"/>
                </a:solidFill>
                <a:latin typeface="Trebuchet MS"/>
              </a:rPr>
              <a:t>Home — chat + indexing sidebar</a:t>
            </a:r>
          </a:p>
        </p:txBody>
      </p:sp>
      <p:pic>
        <p:nvPicPr>
          <p:cNvPr id="13" name="Picture 12" descr="webpage_index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508760"/>
            <a:ext cx="3520440" cy="173271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07408" y="1508760"/>
            <a:ext cx="3520440" cy="1732716"/>
          </a:xfrm>
          <a:prstGeom prst="rect">
            <a:avLst/>
          </a:prstGeom>
          <a:noFill/>
          <a:ln w="1587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8" y="331462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36B"/>
                </a:solidFill>
                <a:latin typeface="Trebuchet MS"/>
              </a:rPr>
              <a:t>Indexing a URL in progress</a:t>
            </a:r>
          </a:p>
        </p:txBody>
      </p:sp>
      <p:pic>
        <p:nvPicPr>
          <p:cNvPr id="16" name="Picture 15" descr="indexing_test_p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08760"/>
            <a:ext cx="3520440" cy="17327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220456" y="1508760"/>
            <a:ext cx="3520440" cy="1732716"/>
          </a:xfrm>
          <a:prstGeom prst="rect">
            <a:avLst/>
          </a:prstGeom>
          <a:noFill/>
          <a:ln w="1587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0456" y="331462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36B"/>
                </a:solidFill>
                <a:latin typeface="Trebuchet MS"/>
              </a:rPr>
              <a:t>Local test page indexed for grading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698676"/>
            <a:ext cx="1100023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881556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22E"/>
                </a:solidFill>
                <a:latin typeface="Trebuchet MS"/>
              </a:rPr>
              <a:t>End-to-end user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47316"/>
            <a:ext cx="102412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B88A2E"/>
                </a:solidFill>
                <a:latin typeface="Trebuchet MS"/>
              </a:rPr>
              <a:t>—  </a:t>
            </a:r>
            <a:r>
              <a:rPr sz="1150">
                <a:solidFill>
                  <a:srgbClr val="23272B"/>
                </a:solidFill>
                <a:latin typeface="Trebuchet MS"/>
              </a:rPr>
              <a:t>Paste one or more URLs into the sidebar and click Index / Refresh URLs.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B88A2E"/>
                </a:solidFill>
                <a:latin typeface="Trebuchet MS"/>
              </a:rPr>
              <a:t>—  </a:t>
            </a:r>
            <a:r>
              <a:rPr sz="1150">
                <a:solidFill>
                  <a:srgbClr val="23272B"/>
                </a:solidFill>
                <a:latin typeface="Trebuchet MS"/>
              </a:rPr>
              <a:t>Ask a natural-language question in the chat box — the bot retrieves and answers grounded in the indexed pages.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B88A2E"/>
                </a:solidFill>
                <a:latin typeface="Trebuchet MS"/>
              </a:rPr>
              <a:t>—  </a:t>
            </a:r>
            <a:r>
              <a:rPr sz="1150">
                <a:solidFill>
                  <a:srgbClr val="23272B"/>
                </a:solidFill>
                <a:latin typeface="Trebuchet MS"/>
              </a:rPr>
              <a:t>Edit the source page, re-index, and watch the Freshness Report + chat answers update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DESIGN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Engineering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Engineering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508760"/>
            <a:ext cx="82296" cy="214884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0992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22E"/>
                </a:solidFill>
                <a:latin typeface="Trebuchet MS"/>
              </a:rPr>
              <a:t>Chunking: 1000 / 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6B"/>
                </a:solidFill>
                <a:latin typeface="Trebuchet MS"/>
              </a:rPr>
              <a:t>A 200-character overlap between adjacent 1000-character chunks prevents a key sentence at a boundary from being lost from both halves.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150876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07408" y="1508760"/>
            <a:ext cx="82296" cy="214884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70992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22E"/>
                </a:solidFill>
                <a:latin typeface="Trebuchet MS"/>
              </a:rPr>
              <a:t>Clean re-index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28600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6B"/>
                </a:solidFill>
                <a:latin typeface="Trebuchet MS"/>
              </a:rPr>
              <a:t>The Chroma collection is deleted and rebuilt on every re-index, so the vector store never accumulates duplicate or stale chunks.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150876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0456" y="1508760"/>
            <a:ext cx="82296" cy="214884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94776" y="170992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22E"/>
                </a:solidFill>
                <a:latin typeface="Trebuchet MS"/>
              </a:rPr>
              <a:t>Local-first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228600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6B"/>
                </a:solidFill>
                <a:latin typeface="Trebuchet MS"/>
              </a:rPr>
              <a:t>gemma4:31b-cloud and nomic-embed-text run via Ollama — no API keys, no per-call billing, fully self-hostable.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93192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931920"/>
            <a:ext cx="82296" cy="214884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13308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22E"/>
                </a:solidFill>
                <a:latin typeface="Trebuchet MS"/>
              </a:rPr>
              <a:t>Strict grounding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0916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6B"/>
                </a:solidFill>
                <a:latin typeface="Trebuchet MS"/>
              </a:rPr>
              <a:t>The system prompt forces the LLM to answer only from supplied context, directly reducing hallucination.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393192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07408" y="3931920"/>
            <a:ext cx="82296" cy="214884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81728" y="413308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22E"/>
                </a:solidFill>
                <a:latin typeface="Trebuchet MS"/>
              </a:rPr>
              <a:t>Content-hash diffing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470916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6B"/>
                </a:solidFill>
                <a:latin typeface="Trebuchet MS"/>
              </a:rPr>
              <a:t>SHA-256 over full page text gives a cheap, reliable signal for New / Unchanged / Changed without storing full history.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393192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0456" y="3931920"/>
            <a:ext cx="82296" cy="214884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94776" y="413308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22E"/>
                </a:solidFill>
                <a:latin typeface="Trebuchet MS"/>
              </a:rPr>
              <a:t>Source attribution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4776" y="470916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6B"/>
                </a:solidFill>
                <a:latin typeface="Trebuchet MS"/>
              </a:rPr>
              <a:t>Every retrieved chunk keeps its originating URL in metadata, enabling a verifiable Sources panel.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Learnings &amp; Current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Learnings &amp;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53492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E6B53"/>
                </a:solidFill>
                <a:latin typeface="Trebuchet MS"/>
              </a:rPr>
              <a:t>What We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4800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B88A2E"/>
                </a:solidFill>
                <a:latin typeface="Trebuchet MS"/>
              </a:rPr>
              <a:t>—  Grounding is a prompt-level guarantee.  </a:t>
            </a:r>
            <a:r>
              <a:rPr sz="1200">
                <a:solidFill>
                  <a:srgbClr val="23272B"/>
                </a:solidFill>
                <a:latin typeface="Trebuchet MS"/>
              </a:rPr>
              <a:t>It only works as well as the retrieval quality feeding it.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B88A2E"/>
                </a:solidFill>
                <a:latin typeface="Trebuchet MS"/>
              </a:rPr>
              <a:t>—  Chunking strategy directly affects answer quality.  </a:t>
            </a:r>
            <a:r>
              <a:rPr sz="1200">
                <a:solidFill>
                  <a:srgbClr val="23272B"/>
                </a:solidFill>
                <a:latin typeface="Trebuchet MS"/>
              </a:rPr>
              <a:t>Too small loses context; too large dilutes relevance.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B88A2E"/>
                </a:solidFill>
                <a:latin typeface="Trebuchet MS"/>
              </a:rPr>
              <a:t>—  Local LLM serving via Ollama  </a:t>
            </a:r>
            <a:r>
              <a:rPr sz="1200">
                <a:solidFill>
                  <a:srgbClr val="23272B"/>
                </a:solidFill>
                <a:latin typeface="Trebuchet MS"/>
              </a:rPr>
              <a:t>removes API cost and latency concerns during iterative testing.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B88A2E"/>
                </a:solidFill>
                <a:latin typeface="Trebuchet MS"/>
              </a:rPr>
              <a:t>—  Hash-based change detection  </a:t>
            </a:r>
            <a:r>
              <a:rPr sz="1200">
                <a:solidFill>
                  <a:srgbClr val="23272B"/>
                </a:solidFill>
                <a:latin typeface="Trebuchet MS"/>
              </a:rPr>
              <a:t>is a lightweight but effective substitute for full version control on web content.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508760"/>
            <a:ext cx="5349240" cy="4892040"/>
          </a:xfrm>
          <a:prstGeom prst="rect">
            <a:avLst/>
          </a:prstGeom>
          <a:solidFill>
            <a:srgbClr val="14222E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69164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4C98C"/>
                </a:solidFill>
                <a:latin typeface="Trebuchet MS"/>
              </a:rPr>
              <a:t>Current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103120"/>
            <a:ext cx="4800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E4C98C"/>
                </a:solidFill>
                <a:latin typeface="Trebuchet MS"/>
              </a:rPr>
              <a:t>—  Full re-index on any change.  </a:t>
            </a:r>
            <a:r>
              <a:rPr sz="1200">
                <a:solidFill>
                  <a:srgbClr val="E6E7EA"/>
                </a:solidFill>
                <a:latin typeface="Trebuchet MS"/>
              </a:rPr>
              <a:t>A single changed URL still rebuilds the entire collection.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E4C98C"/>
                </a:solidFill>
                <a:latin typeface="Trebuchet MS"/>
              </a:rPr>
              <a:t>—  No authentication or multi-user isolation  </a:t>
            </a:r>
            <a:r>
              <a:rPr sz="1200">
                <a:solidFill>
                  <a:srgbClr val="E6E7EA"/>
                </a:solidFill>
                <a:latin typeface="Trebuchet MS"/>
              </a:rPr>
              <a:t>— all sessions share one vector store.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E4C98C"/>
                </a:solidFill>
                <a:latin typeface="Trebuchet MS"/>
              </a:rPr>
              <a:t>—  Static pages only.  </a:t>
            </a:r>
            <a:r>
              <a:rPr sz="1200">
                <a:solidFill>
                  <a:srgbClr val="E6E7EA"/>
                </a:solidFill>
                <a:latin typeface="Trebuchet MS"/>
              </a:rPr>
              <a:t>Heavy JavaScript-rendered sites are not fully captured by WebBaseLoader.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E4C98C"/>
                </a:solidFill>
                <a:latin typeface="Trebuchet MS"/>
              </a:rPr>
              <a:t>—  Single embedding/LLM pairing  </a:t>
            </a:r>
            <a:r>
              <a:rPr sz="1200">
                <a:solidFill>
                  <a:srgbClr val="E6E7EA"/>
                </a:solidFill>
                <a:latin typeface="Trebuchet MS"/>
              </a:rPr>
              <a:t>is hard-coded; swapping models requires a code change.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381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C98C"/>
                </a:solidFill>
                <a:latin typeface="Trebuchet MS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2336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</a:rPr>
              <a:t>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28816"/>
            <a:ext cx="11000232" cy="9525"/>
          </a:xfrm>
          <a:prstGeom prst="rect">
            <a:avLst/>
          </a:prstGeom>
          <a:solidFill>
            <a:srgbClr val="D8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webRAG  — 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B"/>
                </a:solidFill>
                <a:latin typeface="Trebuchet MS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520440" cy="2148840"/>
          </a:xfrm>
          <a:prstGeom prst="rect">
            <a:avLst/>
          </a:prstGeom>
          <a:solidFill>
            <a:srgbClr val="EEEBE2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733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A2E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22E"/>
                </a:solidFill>
                <a:latin typeface="Trebuchet MS"/>
              </a:rPr>
              <a:t>Incremental indexing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15768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Only re-embed chunks belonging to URLs that actually changed.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1508760"/>
            <a:ext cx="3520440" cy="2148840"/>
          </a:xfrm>
          <a:prstGeom prst="rect">
            <a:avLst/>
          </a:prstGeom>
          <a:solidFill>
            <a:srgbClr val="EEEBE2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8" y="16733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A2E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28600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22E"/>
                </a:solidFill>
                <a:latin typeface="Trebuchet MS"/>
              </a:rPr>
              <a:t>Scheduled re-crawling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715768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Background jobs to auto-refresh sources on a timer.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1508760"/>
            <a:ext cx="3520440" cy="2148840"/>
          </a:xfrm>
          <a:prstGeom prst="rect">
            <a:avLst/>
          </a:prstGeom>
          <a:solidFill>
            <a:srgbClr val="EEEBE2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A2E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28600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22E"/>
                </a:solidFill>
                <a:latin typeface="Trebuchet MS"/>
              </a:rPr>
              <a:t>Multi-user workspaces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715768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Isolated collections per user or project.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931920"/>
            <a:ext cx="3520440" cy="2148840"/>
          </a:xfrm>
          <a:prstGeom prst="rect">
            <a:avLst/>
          </a:prstGeom>
          <a:solidFill>
            <a:srgbClr val="EEEBE2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09651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A2E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0916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22E"/>
                </a:solidFill>
                <a:latin typeface="Trebuchet MS"/>
              </a:rPr>
              <a:t>Pluggable model backends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38928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Swap LLM / embedding provider via configuration, not code.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3931920"/>
            <a:ext cx="3520440" cy="2148840"/>
          </a:xfrm>
          <a:prstGeom prst="rect">
            <a:avLst/>
          </a:prstGeom>
          <a:solidFill>
            <a:srgbClr val="EEEBE2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36008" y="409651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A2E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470916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22E"/>
                </a:solidFill>
                <a:latin typeface="Trebuchet MS"/>
              </a:rPr>
              <a:t>JS-rendered page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5138928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Headless-browser fetching for dynamic sites.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3931920"/>
            <a:ext cx="3520440" cy="2148840"/>
          </a:xfrm>
          <a:prstGeom prst="rect">
            <a:avLst/>
          </a:prstGeom>
          <a:solidFill>
            <a:srgbClr val="EEEBE2"/>
          </a:solidFill>
          <a:ln w="12700">
            <a:solidFill>
              <a:srgbClr val="D8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49056" y="409651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A2E"/>
                </a:solidFill>
                <a:latin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4709160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22E"/>
                </a:solidFill>
                <a:latin typeface="Trebuchet MS"/>
              </a:rPr>
              <a:t>Answer confidence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5138928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36B"/>
                </a:solidFill>
                <a:latin typeface="Trebuchet MS"/>
              </a:rPr>
              <a:t>Surface retrieval-similarity scores alongside each answer.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4445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4C98C"/>
                </a:solidFill>
                <a:latin typeface="Trebuchet M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394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9BEC6"/>
                </a:solidFill>
                <a:latin typeface="Trebuchet MS"/>
              </a:rPr>
              <a:t>Mukesh Kumar Pandey   ·   Registration Number: 12409414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760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36B"/>
                </a:solidFill>
                <a:latin typeface="Trebuchet MS"/>
              </a:rPr>
              <a:t>webRAG — Web-Based Retrieval-Augmented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</cp:revision>
  <dcterms:created xsi:type="dcterms:W3CDTF">2013-01-27T09:14:16Z</dcterms:created>
  <dcterms:modified xsi:type="dcterms:W3CDTF">2026-09-09T19:20:47Z</dcterms:modified>
  <cp:category/>
</cp:coreProperties>
</file>